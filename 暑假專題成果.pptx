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3" r:id="rId4"/>
    <p:sldId id="268" r:id="rId5"/>
    <p:sldId id="266" r:id="rId6"/>
    <p:sldId id="267" r:id="rId7"/>
    <p:sldId id="259" r:id="rId8"/>
    <p:sldId id="260" r:id="rId9"/>
    <p:sldId id="261" r:id="rId10"/>
    <p:sldId id="262" r:id="rId11"/>
    <p:sldId id="264" r:id="rId12"/>
    <p:sldId id="265" r:id="rId13"/>
  </p:sldIdLst>
  <p:sldSz cx="14630400" cy="8229600"/>
  <p:notesSz cx="8229600" cy="146304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Lato Bold" panose="020F0502020204030203" charset="0"/>
      <p:bold r:id="rId19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58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CA00-BADF-1E07-19A7-1E10B863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0BDFD-98EC-C74A-00B9-09CD607AC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34EC7-57E7-22A0-2AF1-76D379ED8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2F9BE-A904-85D4-DF45-8D56C589CD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039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221A4-2128-765B-95A3-DB257F03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B3AC02-EF4E-9305-3EF2-D5241F290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5E5CE-EEA4-DCDE-176C-664D9149A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ED47D-8E08-3ACE-9CBB-B6DC1EA65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65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8D8C2-714B-5B63-58B2-E8F82D66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C503-8011-B16F-05D5-1D2ADE77C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4C2251-1788-76FA-82C0-E56B8706E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8F017-E0E2-E7C0-C134-C9184D7851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96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82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5.findings-acl.1358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hyperlink" Target="https://huggingface.co/spaces/aurorajojo/e5-large-embedding-api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824">
              <a:alpha val="8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2"/>
          <p:cNvSpPr/>
          <p:nvPr/>
        </p:nvSpPr>
        <p:spPr>
          <a:xfrm>
            <a:off x="4479846" y="29552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zh-TW" altLang="en-US" sz="4450" dirty="0">
                <a:latin typeface="Lato Bold"/>
              </a:rPr>
              <a:t>中原諮商輔導聊天機器人</a:t>
            </a:r>
          </a:p>
        </p:txBody>
      </p:sp>
      <p:sp>
        <p:nvSpPr>
          <p:cNvPr id="7" name="Text 3"/>
          <p:cNvSpPr/>
          <p:nvPr/>
        </p:nvSpPr>
        <p:spPr>
          <a:xfrm>
            <a:off x="4367332" y="4004191"/>
            <a:ext cx="589573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endParaRPr lang="en-US" sz="35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6EA19A3-2A56-7AB0-116F-AE9FF64BBA59}"/>
              </a:ext>
            </a:extLst>
          </p:cNvPr>
          <p:cNvSpPr/>
          <p:nvPr/>
        </p:nvSpPr>
        <p:spPr>
          <a:xfrm>
            <a:off x="4367332" y="5356225"/>
            <a:ext cx="5670590" cy="176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altLang="zh-TW" sz="2400" dirty="0">
                <a:latin typeface="Lato Bold"/>
              </a:rPr>
              <a:t>11127145</a:t>
            </a:r>
            <a:r>
              <a:rPr lang="zh-TW" altLang="en-US" sz="2400" dirty="0">
                <a:latin typeface="Lato Bold"/>
              </a:rPr>
              <a:t> 陳采妮</a:t>
            </a:r>
            <a:endParaRPr lang="en-US" altLang="zh-TW" sz="2400" dirty="0">
              <a:latin typeface="Lato Bold"/>
            </a:endParaRPr>
          </a:p>
          <a:p>
            <a:pPr marL="0" indent="0" algn="ctr">
              <a:lnSpc>
                <a:spcPts val="5550"/>
              </a:lnSpc>
              <a:buNone/>
            </a:pPr>
            <a:r>
              <a:rPr lang="en-US" altLang="zh-TW" sz="2400" dirty="0">
                <a:latin typeface="Lato Bold"/>
              </a:rPr>
              <a:t>11027265 </a:t>
            </a:r>
            <a:r>
              <a:rPr lang="zh-TW" altLang="en-US" sz="2400" dirty="0">
                <a:latin typeface="Lato Bold"/>
              </a:rPr>
              <a:t>林昀晗</a:t>
            </a:r>
          </a:p>
          <a:p>
            <a:pPr marL="0" indent="0" algn="ctr">
              <a:lnSpc>
                <a:spcPts val="5550"/>
              </a:lnSpc>
              <a:buNone/>
            </a:pPr>
            <a:endParaRPr lang="zh-TW" altLang="en-US" sz="4450" dirty="0">
              <a:latin typeface="Lat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2835235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5" name="Text 1"/>
          <p:cNvSpPr/>
          <p:nvPr/>
        </p:nvSpPr>
        <p:spPr>
          <a:xfrm>
            <a:off x="4479846" y="14176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動機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3412736"/>
            <a:ext cx="6313257" cy="393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大學生心理壓力大，常遇到：情緒困擾、人際關係、課業壓力、自我價值、生涯迷茫、校園適應等困擾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zh-TW" altLang="en-US" sz="28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心理諮商資源有限、採預約制、看診金額高</a:t>
            </a:r>
            <a:endParaRPr lang="en-US" altLang="zh-TW" sz="28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algn="l">
              <a:lnSpc>
                <a:spcPts val="2850"/>
              </a:lnSpc>
            </a:pPr>
            <a:endParaRPr lang="en-US" altLang="zh-TW" sz="28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希望透過 </a:t>
            </a:r>
            <a:r>
              <a:rPr lang="en-US" altLang="zh-TW" sz="2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Line Bot </a:t>
            </a:r>
            <a:r>
              <a:rPr lang="zh-TW" altLang="en-US" sz="2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提供</a:t>
            </a:r>
            <a:r>
              <a:rPr lang="en-US" altLang="zh-TW" sz="2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24</a:t>
            </a:r>
            <a:r>
              <a:rPr lang="zh-TW" altLang="en-US" sz="2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小時陪伴與心理支持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85769E-4D8C-07EE-5129-A68D26B4C35E}"/>
              </a:ext>
            </a:extLst>
          </p:cNvPr>
          <p:cNvSpPr/>
          <p:nvPr/>
        </p:nvSpPr>
        <p:spPr>
          <a:xfrm>
            <a:off x="12830175" y="7610475"/>
            <a:ext cx="1800225" cy="619125"/>
          </a:xfrm>
          <a:prstGeom prst="rect">
            <a:avLst/>
          </a:prstGeom>
          <a:solidFill>
            <a:srgbClr val="EFECE6"/>
          </a:solidFill>
          <a:ln>
            <a:solidFill>
              <a:srgbClr val="EFE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C87A73D-B8B0-1A3B-7D6A-FAD71DEEBA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50"/>
          <a:stretch>
            <a:fillRect/>
          </a:stretch>
        </p:blipFill>
        <p:spPr bwMode="auto">
          <a:xfrm>
            <a:off x="11148312" y="2835235"/>
            <a:ext cx="3363725" cy="441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C94D455-5E50-AF31-3E0E-06AE3B3A83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837"/>
          <a:stretch>
            <a:fillRect/>
          </a:stretch>
        </p:blipFill>
        <p:spPr bwMode="auto">
          <a:xfrm>
            <a:off x="7457408" y="2854129"/>
            <a:ext cx="3315957" cy="214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786" y="603171"/>
            <a:ext cx="5482828" cy="68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zh-TW" altLang="en-US" sz="4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</a:rPr>
              <a:t>目標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767596" y="2034778"/>
            <a:ext cx="13095208" cy="30480"/>
          </a:xfrm>
          <a:prstGeom prst="roundRect">
            <a:avLst>
              <a:gd name="adj" fmla="val 107930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289102" y="2062639"/>
            <a:ext cx="30480" cy="657939"/>
          </a:xfrm>
          <a:prstGeom prst="roundRect">
            <a:avLst>
              <a:gd name="adj" fmla="val 107930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057644" y="1788081"/>
            <a:ext cx="493395" cy="493395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139857" y="1829217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6941106" y="1788081"/>
            <a:ext cx="493395" cy="493395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023318" y="1829217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933634" y="2784039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zh-TW" altLang="en-US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文字對話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1151333" y="3456027"/>
            <a:ext cx="5768143" cy="427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zh-TW" altLang="en-US" sz="17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生成流程</a:t>
            </a:r>
            <a:r>
              <a:rPr lang="en-US" altLang="zh-TW" sz="17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</a:p>
          <a:p>
            <a:pPr marL="0" indent="0">
              <a:lnSpc>
                <a:spcPts val="2750"/>
              </a:lnSpc>
              <a:buNone/>
            </a:pP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判斷四個層面 → 確認意圖 → 套用策略</a:t>
            </a:r>
            <a:endParaRPr lang="en-US" altLang="zh-TW" sz="17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0" indent="0">
              <a:lnSpc>
                <a:spcPts val="2750"/>
              </a:lnSpc>
              <a:buNone/>
            </a:pP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此作法參考論文 </a:t>
            </a:r>
            <a:r>
              <a:rPr lang="en-US" sz="170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3"/>
              </a:rPr>
              <a:t>IntentionESC</a:t>
            </a: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3"/>
              </a:rPr>
              <a:t>: An Intention-Centered Framework for Enhancing</a:t>
            </a: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的</a:t>
            </a:r>
            <a:r>
              <a:rPr lang="en-US" altLang="zh-TW" sz="170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ICECoT</a:t>
            </a: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「以意圖為核心」框架</a:t>
            </a:r>
            <a:endParaRPr lang="en-US" altLang="zh-TW" sz="17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0" indent="0">
              <a:lnSpc>
                <a:spcPts val="2750"/>
              </a:lnSpc>
              <a:buNone/>
            </a:pP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這樣能避免回覆空泛，使對話更具結構與理論依據。</a:t>
            </a:r>
            <a:endParaRPr lang="en-US" sz="17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0" indent="0">
              <a:lnSpc>
                <a:spcPts val="2750"/>
              </a:lnSpc>
              <a:buNone/>
            </a:pPr>
            <a:endParaRPr lang="en-US" sz="17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0" indent="0">
              <a:lnSpc>
                <a:spcPts val="2750"/>
              </a:lnSpc>
              <a:buNone/>
            </a:pP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四個層面：</a:t>
            </a:r>
            <a:endParaRPr lang="en-US" altLang="zh-TW" sz="17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0" indent="0">
              <a:lnSpc>
                <a:spcPts val="2750"/>
              </a:lnSpc>
              <a:buNone/>
            </a:pP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altLang="zh-TW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1.</a:t>
            </a: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求助者的主要問題與原因</a:t>
            </a:r>
          </a:p>
          <a:p>
            <a:pPr marL="0" indent="0">
              <a:lnSpc>
                <a:spcPts val="2750"/>
              </a:lnSpc>
              <a:buNone/>
            </a:pP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altLang="zh-TW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2.</a:t>
            </a: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求助者的當前情緒與感受</a:t>
            </a:r>
          </a:p>
          <a:p>
            <a:pPr marL="0" indent="0">
              <a:lnSpc>
                <a:spcPts val="2750"/>
              </a:lnSpc>
              <a:buNone/>
            </a:pP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altLang="zh-TW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</a:t>
            </a: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求助者的需求</a:t>
            </a:r>
          </a:p>
          <a:p>
            <a:pPr marL="0" indent="0">
              <a:lnSpc>
                <a:spcPts val="2750"/>
              </a:lnSpc>
              <a:buNone/>
            </a:pP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altLang="zh-TW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4.</a:t>
            </a: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求助者與支持者的關係動態</a:t>
            </a:r>
            <a:endParaRPr lang="en-US" sz="17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967561" y="1788081"/>
            <a:ext cx="493395" cy="493395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11049774" y="1829217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55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9E86229A-AE7F-5A95-E1ED-9B0C3219F85E}"/>
              </a:ext>
            </a:extLst>
          </p:cNvPr>
          <p:cNvSpPr/>
          <p:nvPr/>
        </p:nvSpPr>
        <p:spPr>
          <a:xfrm>
            <a:off x="7068721" y="7544249"/>
            <a:ext cx="5278041" cy="62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1700" dirty="0"/>
              <a:t>表一 </a:t>
            </a:r>
            <a:r>
              <a:rPr lang="en-US" altLang="zh-TW" sz="1700" dirty="0"/>
              <a:t>:</a:t>
            </a:r>
            <a:r>
              <a:rPr lang="zh-TW" altLang="en-US" sz="1700" dirty="0"/>
              <a:t> 意圖 → 支持策略對照表</a:t>
            </a:r>
            <a:endParaRPr lang="en-US" sz="17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7478F72-0E8B-3B08-90A1-C305192B8181}"/>
              </a:ext>
            </a:extLst>
          </p:cNvPr>
          <p:cNvSpPr/>
          <p:nvPr/>
        </p:nvSpPr>
        <p:spPr>
          <a:xfrm>
            <a:off x="12830175" y="7610475"/>
            <a:ext cx="1800225" cy="619125"/>
          </a:xfrm>
          <a:prstGeom prst="rect">
            <a:avLst/>
          </a:prstGeom>
          <a:solidFill>
            <a:srgbClr val="EFECE6"/>
          </a:solidFill>
          <a:ln>
            <a:solidFill>
              <a:srgbClr val="EFE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CDA5137-D43D-0BAA-35EA-E2DAD8D5E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944568"/>
              </p:ext>
            </p:extLst>
          </p:nvPr>
        </p:nvGraphicFramePr>
        <p:xfrm>
          <a:off x="7068721" y="2391608"/>
          <a:ext cx="7427049" cy="4935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357">
                  <a:extLst>
                    <a:ext uri="{9D8B030D-6E8A-4147-A177-3AD203B41FA5}">
                      <a16:colId xmlns:a16="http://schemas.microsoft.com/office/drawing/2014/main" val="1449097392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1336469787"/>
                    </a:ext>
                  </a:extLst>
                </a:gridCol>
                <a:gridCol w="5140960">
                  <a:extLst>
                    <a:ext uri="{9D8B030D-6E8A-4147-A177-3AD203B41FA5}">
                      <a16:colId xmlns:a16="http://schemas.microsoft.com/office/drawing/2014/main" val="264299835"/>
                    </a:ext>
                  </a:extLst>
                </a:gridCol>
                <a:gridCol w="1035452">
                  <a:extLst>
                    <a:ext uri="{9D8B030D-6E8A-4147-A177-3AD203B41FA5}">
                      <a16:colId xmlns:a16="http://schemas.microsoft.com/office/drawing/2014/main" val="4064287802"/>
                    </a:ext>
                  </a:extLst>
                </a:gridCol>
              </a:tblGrid>
              <a:tr h="590030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意圖</a:t>
                      </a:r>
                      <a:endParaRPr lang="en-US" altLang="zh-TW" sz="1400" dirty="0"/>
                    </a:p>
                    <a:p>
                      <a:r>
                        <a:rPr lang="zh-TW" altLang="en-US" sz="1400" dirty="0"/>
                        <a:t>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解釋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對應策略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178856"/>
                  </a:ext>
                </a:extLst>
              </a:tr>
              <a:tr h="405902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聚焦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當使用者話題過於分散，或是無法聚焦在主要問題上，需要有人幫助拉回重點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(1)(2)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764099"/>
                  </a:ext>
                </a:extLst>
              </a:tr>
              <a:tr h="356628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澄清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當使用者的表達模糊、前後矛盾，或無法具體說明時，需要釐清細節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(1)(2)(3)(4)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08946"/>
                  </a:ext>
                </a:extLst>
              </a:tr>
              <a:tr h="405902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情緒宣洩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當使用者想單純傾訴或釋放壓力，需要被傾聽與接納，而不是立刻被建議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(1)(2)(3)(4)(5)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798445"/>
                  </a:ext>
                </a:extLst>
              </a:tr>
              <a:tr h="405902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認知覺察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當使用者的想法可能過於負面、不合理或扭曲，需要幫助其看清思維模式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(1)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10956"/>
                  </a:ext>
                </a:extLst>
              </a:tr>
              <a:tr h="405902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情緒理解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當使用者不太能描述或理解自己的情緒時，需要幫助辨識、命名與理解情緒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(1)(3)(4)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702582"/>
                  </a:ext>
                </a:extLst>
              </a:tr>
              <a:tr h="320330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洞察理解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當使用者需要更深入了解問題背後的原因或意義時，需要引導與整理思緒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(1)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185024"/>
                  </a:ext>
                </a:extLst>
              </a:tr>
              <a:tr h="405902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支持陪伴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當使用者需要安全感或陪伴感時，需要被肯定，或聽到「有人和我在一起」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(2)(5)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744"/>
                  </a:ext>
                </a:extLst>
              </a:tr>
              <a:tr h="275609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希望鼓勵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當使用者感到無力、失落或沮喪時，需要有人給予希望與鼓舞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(3)(4)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934623"/>
                  </a:ext>
                </a:extLst>
              </a:tr>
              <a:tr h="405902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自我控制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當使用者想要更有掌控感或責任感時，需要實際的方法來幫助自己調整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(3)(4)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126515"/>
                  </a:ext>
                </a:extLst>
              </a:tr>
              <a:tr h="258980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改變行動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當使用者已經有意願改變，需要具體的行動建議或方向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(4)(6)(7)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55620"/>
                  </a:ext>
                </a:extLst>
              </a:tr>
              <a:tr h="305862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11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提供資訊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當使用者直接詢問知識、數據或資源時，需要正確的資訊回覆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(7)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220903"/>
                  </a:ext>
                </a:extLst>
              </a:tr>
              <a:tr h="243541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蒐集資訊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當支持者需要更了解使用者的情況或細節，才有辦法回應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(1)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36657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69BC9-A7FC-7A5C-D6AE-B9566CC3A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3A1356-2801-22AF-3921-ED3355AF8F53}"/>
              </a:ext>
            </a:extLst>
          </p:cNvPr>
          <p:cNvSpPr/>
          <p:nvPr/>
        </p:nvSpPr>
        <p:spPr>
          <a:xfrm>
            <a:off x="4573786" y="603171"/>
            <a:ext cx="5482828" cy="68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zh-TW" altLang="en-US" sz="4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</a:rPr>
              <a:t>目標</a:t>
            </a:r>
            <a:endParaRPr lang="en-US" sz="4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2A91901-3ECE-4C43-449C-E7F2BA18475D}"/>
              </a:ext>
            </a:extLst>
          </p:cNvPr>
          <p:cNvSpPr/>
          <p:nvPr/>
        </p:nvSpPr>
        <p:spPr>
          <a:xfrm>
            <a:off x="767596" y="2034778"/>
            <a:ext cx="13095208" cy="30480"/>
          </a:xfrm>
          <a:prstGeom prst="roundRect">
            <a:avLst>
              <a:gd name="adj" fmla="val 107930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2E6227B-F103-A00D-A3EF-2D678CDA5013}"/>
              </a:ext>
            </a:extLst>
          </p:cNvPr>
          <p:cNvSpPr/>
          <p:nvPr/>
        </p:nvSpPr>
        <p:spPr>
          <a:xfrm>
            <a:off x="3289102" y="2062639"/>
            <a:ext cx="30480" cy="657939"/>
          </a:xfrm>
          <a:prstGeom prst="roundRect">
            <a:avLst>
              <a:gd name="adj" fmla="val 107930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B73DE2F-66F9-A0AD-1642-BDD93EFB0A02}"/>
              </a:ext>
            </a:extLst>
          </p:cNvPr>
          <p:cNvSpPr/>
          <p:nvPr/>
        </p:nvSpPr>
        <p:spPr>
          <a:xfrm>
            <a:off x="3057644" y="1788081"/>
            <a:ext cx="493395" cy="493395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A74086-C843-2B08-D003-AF4B9C41E3EE}"/>
              </a:ext>
            </a:extLst>
          </p:cNvPr>
          <p:cNvSpPr/>
          <p:nvPr/>
        </p:nvSpPr>
        <p:spPr>
          <a:xfrm>
            <a:off x="3139857" y="1829217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5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7FEB38C-5D98-2129-7452-04681200DC12}"/>
              </a:ext>
            </a:extLst>
          </p:cNvPr>
          <p:cNvSpPr/>
          <p:nvPr/>
        </p:nvSpPr>
        <p:spPr>
          <a:xfrm>
            <a:off x="6941106" y="1788081"/>
            <a:ext cx="493395" cy="493395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4FFFA52-783F-5E7A-0C7F-E20969131ED1}"/>
              </a:ext>
            </a:extLst>
          </p:cNvPr>
          <p:cNvSpPr/>
          <p:nvPr/>
        </p:nvSpPr>
        <p:spPr>
          <a:xfrm>
            <a:off x="7023318" y="1829217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98C68C9-E81A-C45B-6A25-E27CBB36C462}"/>
              </a:ext>
            </a:extLst>
          </p:cNvPr>
          <p:cNvSpPr/>
          <p:nvPr/>
        </p:nvSpPr>
        <p:spPr>
          <a:xfrm>
            <a:off x="1933634" y="2784039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zh-TW" altLang="en-US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文字對話</a:t>
            </a:r>
            <a:endParaRPr lang="en-US" sz="21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5B9E042-B852-A953-8669-DC9B9C10763F}"/>
              </a:ext>
            </a:extLst>
          </p:cNvPr>
          <p:cNvSpPr/>
          <p:nvPr/>
        </p:nvSpPr>
        <p:spPr>
          <a:xfrm>
            <a:off x="10967561" y="1788081"/>
            <a:ext cx="493395" cy="493395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893515F-D556-B394-AFA0-9519C232F159}"/>
              </a:ext>
            </a:extLst>
          </p:cNvPr>
          <p:cNvSpPr/>
          <p:nvPr/>
        </p:nvSpPr>
        <p:spPr>
          <a:xfrm>
            <a:off x="11049774" y="1829217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55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5E2073AF-17C5-ADAD-55E4-B858154D3A51}"/>
              </a:ext>
            </a:extLst>
          </p:cNvPr>
          <p:cNvSpPr/>
          <p:nvPr/>
        </p:nvSpPr>
        <p:spPr>
          <a:xfrm>
            <a:off x="4295834" y="7226735"/>
            <a:ext cx="5278041" cy="62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1700" dirty="0"/>
              <a:t>表二</a:t>
            </a:r>
            <a:r>
              <a:rPr lang="en-US" altLang="zh-TW" sz="1700" dirty="0"/>
              <a:t>:</a:t>
            </a:r>
            <a:r>
              <a:rPr lang="zh-TW" altLang="en-US" sz="1700" dirty="0"/>
              <a:t> 策略解釋</a:t>
            </a:r>
            <a:endParaRPr lang="en-US" sz="17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D6FA23C-2C29-0C13-5A7D-7253D505AC8F}"/>
              </a:ext>
            </a:extLst>
          </p:cNvPr>
          <p:cNvSpPr/>
          <p:nvPr/>
        </p:nvSpPr>
        <p:spPr>
          <a:xfrm>
            <a:off x="12830175" y="7610475"/>
            <a:ext cx="1800225" cy="619125"/>
          </a:xfrm>
          <a:prstGeom prst="rect">
            <a:avLst/>
          </a:prstGeom>
          <a:solidFill>
            <a:srgbClr val="EFECE6"/>
          </a:solidFill>
          <a:ln>
            <a:solidFill>
              <a:srgbClr val="EFE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3289CFA-BDCB-FA4A-184A-A7739A5FB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106902"/>
              </p:ext>
            </p:extLst>
          </p:nvPr>
        </p:nvGraphicFramePr>
        <p:xfrm>
          <a:off x="4266122" y="3027759"/>
          <a:ext cx="6701439" cy="3860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31">
                  <a:extLst>
                    <a:ext uri="{9D8B030D-6E8A-4147-A177-3AD203B41FA5}">
                      <a16:colId xmlns:a16="http://schemas.microsoft.com/office/drawing/2014/main" val="144909739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36469787"/>
                    </a:ext>
                  </a:extLst>
                </a:gridCol>
                <a:gridCol w="5239008">
                  <a:extLst>
                    <a:ext uri="{9D8B030D-6E8A-4147-A177-3AD203B41FA5}">
                      <a16:colId xmlns:a16="http://schemas.microsoft.com/office/drawing/2014/main" val="264299835"/>
                    </a:ext>
                  </a:extLst>
                </a:gridCol>
              </a:tblGrid>
              <a:tr h="590030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策略</a:t>
                      </a:r>
                      <a:endParaRPr lang="en-US" altLang="zh-TW" sz="1400" dirty="0"/>
                    </a:p>
                    <a:p>
                      <a:r>
                        <a:rPr lang="zh-TW" altLang="en-US" sz="1400" dirty="0"/>
                        <a:t>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解釋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178856"/>
                  </a:ext>
                </a:extLst>
              </a:tr>
              <a:tr h="405902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問句引導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開放式問題讓使用者進一步具體表達他們所面臨的問題。封閉式問題則可用來獲取具體資訊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764099"/>
                  </a:ext>
                </a:extLst>
              </a:tr>
              <a:tr h="356628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轉述或改寫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將使用者所說的話以更簡潔的方式重新表達，幫助使用者更清楚理解自己的處境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08946"/>
                  </a:ext>
                </a:extLst>
              </a:tr>
              <a:tr h="405902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情緒反映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具體地表達並描述使用者的情緒感受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798445"/>
                  </a:ext>
                </a:extLst>
              </a:tr>
              <a:tr h="405902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自我揭露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透露你曾經有過的類似經驗，或與使用者有共感的情緒，以展現同理心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10956"/>
                  </a:ext>
                </a:extLst>
              </a:tr>
              <a:tr h="405902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肯定與安慰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肯定使用者的優點、動機與能力，並給予安慰與鼓勵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702582"/>
                  </a:ext>
                </a:extLst>
              </a:tr>
              <a:tr h="405902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提出建議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提供一些改變現況的建議，但要小心不要越界或指揮對方該怎麼做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185024"/>
                  </a:ext>
                </a:extLst>
              </a:tr>
              <a:tr h="405902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提供資訊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向使用者提供有用的資訊，例如數據、事實、觀點、資源，或是回答對方的問題，可以推薦學校資源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61744"/>
                  </a:ext>
                </a:extLst>
              </a:tr>
              <a:tr h="275609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其他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進行寒暄或使用其他不屬於上述類別的支持策略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934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31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933BA-6D20-6301-8D1F-9165757FC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177569-130E-D364-D0E6-57314B871A84}"/>
              </a:ext>
            </a:extLst>
          </p:cNvPr>
          <p:cNvSpPr/>
          <p:nvPr/>
        </p:nvSpPr>
        <p:spPr>
          <a:xfrm>
            <a:off x="4573786" y="603171"/>
            <a:ext cx="5482828" cy="68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zh-TW" altLang="en-US" sz="4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</a:rPr>
              <a:t>目標</a:t>
            </a:r>
            <a:endParaRPr lang="en-US" sz="4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B24F4F-0486-BC18-3A41-F7B831AFB48D}"/>
              </a:ext>
            </a:extLst>
          </p:cNvPr>
          <p:cNvSpPr/>
          <p:nvPr/>
        </p:nvSpPr>
        <p:spPr>
          <a:xfrm>
            <a:off x="767596" y="2034778"/>
            <a:ext cx="13095208" cy="30480"/>
          </a:xfrm>
          <a:prstGeom prst="roundRect">
            <a:avLst>
              <a:gd name="adj" fmla="val 107930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FB533FB-3A56-8CF5-04E2-AB7DBBBEF851}"/>
              </a:ext>
            </a:extLst>
          </p:cNvPr>
          <p:cNvSpPr/>
          <p:nvPr/>
        </p:nvSpPr>
        <p:spPr>
          <a:xfrm>
            <a:off x="7184827" y="2062639"/>
            <a:ext cx="30480" cy="657939"/>
          </a:xfrm>
          <a:prstGeom prst="roundRect">
            <a:avLst>
              <a:gd name="adj" fmla="val 107930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650A729-FFE6-F9E8-9B18-4373197A7964}"/>
              </a:ext>
            </a:extLst>
          </p:cNvPr>
          <p:cNvSpPr/>
          <p:nvPr/>
        </p:nvSpPr>
        <p:spPr>
          <a:xfrm>
            <a:off x="3057644" y="1788081"/>
            <a:ext cx="493395" cy="493395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B161C85-65D2-023C-EC88-11C0894A0296}"/>
              </a:ext>
            </a:extLst>
          </p:cNvPr>
          <p:cNvSpPr/>
          <p:nvPr/>
        </p:nvSpPr>
        <p:spPr>
          <a:xfrm>
            <a:off x="3139857" y="1829217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5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ACE7CE5-2FE0-F85C-C0D3-8C335E1B591A}"/>
              </a:ext>
            </a:extLst>
          </p:cNvPr>
          <p:cNvSpPr/>
          <p:nvPr/>
        </p:nvSpPr>
        <p:spPr>
          <a:xfrm>
            <a:off x="6941106" y="1788081"/>
            <a:ext cx="493395" cy="493395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36472A3-FDC9-53E5-56E0-A9FAEE4ADB5E}"/>
              </a:ext>
            </a:extLst>
          </p:cNvPr>
          <p:cNvSpPr/>
          <p:nvPr/>
        </p:nvSpPr>
        <p:spPr>
          <a:xfrm>
            <a:off x="7023318" y="1829217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DF6F182-1AF9-BBA9-F11F-8010A6E57F8F}"/>
              </a:ext>
            </a:extLst>
          </p:cNvPr>
          <p:cNvSpPr/>
          <p:nvPr/>
        </p:nvSpPr>
        <p:spPr>
          <a:xfrm>
            <a:off x="5944493" y="2776657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zh-TW" altLang="en-US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摘要分析</a:t>
            </a:r>
            <a:r>
              <a:rPr lang="en-US" altLang="zh-TW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&amp;</a:t>
            </a:r>
            <a:r>
              <a:rPr lang="zh-TW" altLang="en-US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心情統計</a:t>
            </a:r>
            <a:endParaRPr lang="en-US" sz="21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D305943-C634-48CD-B43C-29D292C7474D}"/>
              </a:ext>
            </a:extLst>
          </p:cNvPr>
          <p:cNvSpPr/>
          <p:nvPr/>
        </p:nvSpPr>
        <p:spPr>
          <a:xfrm>
            <a:off x="1162909" y="3456027"/>
            <a:ext cx="5871984" cy="427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摘要分析</a:t>
            </a:r>
            <a:r>
              <a:rPr lang="zh-TW" altLang="en-US" sz="17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：</a:t>
            </a:r>
            <a:endParaRPr lang="en-US" altLang="zh-TW" sz="1700" b="1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自動摘要使用者每日對話</a:t>
            </a:r>
            <a:endParaRPr lang="en-US" altLang="zh-TW" sz="17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方便使用者回顧心情與思緒，以銘記建議，才有所成長</a:t>
            </a:r>
            <a:endParaRPr lang="en-US" altLang="zh-TW" sz="17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>
              <a:lnSpc>
                <a:spcPts val="2750"/>
              </a:lnSpc>
            </a:pPr>
            <a:endParaRPr lang="en-US" altLang="zh-TW" sz="17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>
              <a:lnSpc>
                <a:spcPts val="2750"/>
              </a:lnSpc>
            </a:pPr>
            <a:r>
              <a:rPr lang="zh-TW" altLang="en-US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心情統計</a:t>
            </a:r>
            <a:r>
              <a:rPr lang="zh-TW" altLang="en-US" sz="17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：</a:t>
            </a:r>
            <a:endParaRPr lang="en-US" altLang="zh-TW" sz="1700" b="1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將使用者對話進行情緒分類（焦慮、悲傷、憤怒、恐懼、厭惡、羞愧），並顯示各種情緒在過去對話中出現的比例</a:t>
            </a:r>
            <a:endParaRPr lang="en-US" altLang="zh-TW" sz="17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zh-TW" alt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讓使用者察覺自己的情緒，及時調整自己心態，避免情緒累積造成壓力或心理困擾</a:t>
            </a:r>
            <a:endParaRPr lang="en-US" sz="17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8563127-F921-1032-5754-6F6588E196D1}"/>
              </a:ext>
            </a:extLst>
          </p:cNvPr>
          <p:cNvSpPr/>
          <p:nvPr/>
        </p:nvSpPr>
        <p:spPr>
          <a:xfrm>
            <a:off x="10967561" y="1788081"/>
            <a:ext cx="493395" cy="493395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6976F40-415E-248D-8308-1B0C38391E07}"/>
              </a:ext>
            </a:extLst>
          </p:cNvPr>
          <p:cNvSpPr/>
          <p:nvPr/>
        </p:nvSpPr>
        <p:spPr>
          <a:xfrm>
            <a:off x="11049774" y="1829217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55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9C821C-5EC7-7A84-76B7-88103EA0E4CA}"/>
              </a:ext>
            </a:extLst>
          </p:cNvPr>
          <p:cNvSpPr/>
          <p:nvPr/>
        </p:nvSpPr>
        <p:spPr>
          <a:xfrm>
            <a:off x="12830175" y="7610475"/>
            <a:ext cx="1800225" cy="619125"/>
          </a:xfrm>
          <a:prstGeom prst="rect">
            <a:avLst/>
          </a:prstGeom>
          <a:solidFill>
            <a:srgbClr val="EFECE6"/>
          </a:solidFill>
          <a:ln>
            <a:solidFill>
              <a:srgbClr val="EFE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DA099C0-9481-F8DF-ECBB-7963F66F8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6076" y="1039419"/>
            <a:ext cx="3164349" cy="3474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27DE340-6A33-2E65-D37E-D7AEF41A2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6076" y="4508249"/>
            <a:ext cx="3183615" cy="347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6E9236F3-0853-060C-5832-7870E4385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843" y="3270112"/>
            <a:ext cx="2746297" cy="471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89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624BE-517B-A73F-51F7-A8C358E13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41907C-A3E8-0BA3-C556-5ADD2AEE5ED5}"/>
              </a:ext>
            </a:extLst>
          </p:cNvPr>
          <p:cNvSpPr/>
          <p:nvPr/>
        </p:nvSpPr>
        <p:spPr>
          <a:xfrm>
            <a:off x="4573786" y="603171"/>
            <a:ext cx="5482828" cy="68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zh-TW" altLang="en-US" sz="4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</a:rPr>
              <a:t>目標</a:t>
            </a:r>
            <a:endParaRPr lang="en-US" sz="4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87099D0-B1F8-BD01-BF6E-302597029958}"/>
              </a:ext>
            </a:extLst>
          </p:cNvPr>
          <p:cNvSpPr/>
          <p:nvPr/>
        </p:nvSpPr>
        <p:spPr>
          <a:xfrm>
            <a:off x="767596" y="2034778"/>
            <a:ext cx="13095208" cy="30480"/>
          </a:xfrm>
          <a:prstGeom prst="roundRect">
            <a:avLst>
              <a:gd name="adj" fmla="val 107930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016D7E6-F813-EA09-43DA-06FDD34827E3}"/>
              </a:ext>
            </a:extLst>
          </p:cNvPr>
          <p:cNvSpPr/>
          <p:nvPr/>
        </p:nvSpPr>
        <p:spPr>
          <a:xfrm>
            <a:off x="11213902" y="2062639"/>
            <a:ext cx="30480" cy="657939"/>
          </a:xfrm>
          <a:prstGeom prst="roundRect">
            <a:avLst>
              <a:gd name="adj" fmla="val 107930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8147C41-79A8-5601-E261-C167C84A9128}"/>
              </a:ext>
            </a:extLst>
          </p:cNvPr>
          <p:cNvSpPr/>
          <p:nvPr/>
        </p:nvSpPr>
        <p:spPr>
          <a:xfrm>
            <a:off x="3057644" y="1788081"/>
            <a:ext cx="493395" cy="493395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3F88BC2-20A1-5711-13B8-8DA3C6BADFCE}"/>
              </a:ext>
            </a:extLst>
          </p:cNvPr>
          <p:cNvSpPr/>
          <p:nvPr/>
        </p:nvSpPr>
        <p:spPr>
          <a:xfrm>
            <a:off x="3139857" y="1829217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5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5C34142-2A4D-1496-BB8F-3B46B5AA64B0}"/>
              </a:ext>
            </a:extLst>
          </p:cNvPr>
          <p:cNvSpPr/>
          <p:nvPr/>
        </p:nvSpPr>
        <p:spPr>
          <a:xfrm>
            <a:off x="6941106" y="1788081"/>
            <a:ext cx="493395" cy="493395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C3B56E2-3503-89D9-2488-C8B30B3B1802}"/>
              </a:ext>
            </a:extLst>
          </p:cNvPr>
          <p:cNvSpPr/>
          <p:nvPr/>
        </p:nvSpPr>
        <p:spPr>
          <a:xfrm>
            <a:off x="7023318" y="1829217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E71BB1F-2DC8-EE88-8F53-ED87D8E57C25}"/>
              </a:ext>
            </a:extLst>
          </p:cNvPr>
          <p:cNvSpPr/>
          <p:nvPr/>
        </p:nvSpPr>
        <p:spPr>
          <a:xfrm>
            <a:off x="9820334" y="2784039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zh-TW" altLang="en-US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量表施測</a:t>
            </a:r>
            <a:r>
              <a:rPr lang="en-US" altLang="zh-TW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&amp;</a:t>
            </a:r>
            <a:r>
              <a:rPr lang="zh-TW" altLang="en-US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歷史檢視</a:t>
            </a:r>
            <a:endParaRPr lang="en-US" sz="21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20CD730-F74D-9AD4-D785-AB770B8F2AE6}"/>
              </a:ext>
            </a:extLst>
          </p:cNvPr>
          <p:cNvSpPr/>
          <p:nvPr/>
        </p:nvSpPr>
        <p:spPr>
          <a:xfrm>
            <a:off x="1151334" y="3456027"/>
            <a:ext cx="5871984" cy="427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量表施測：</a:t>
            </a:r>
            <a:endParaRPr lang="en-US" altLang="zh-TW" b="1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提供憂鬱症、遊戲成癮兩種大學生較常用的量表</a:t>
            </a:r>
            <a:endParaRPr lang="en-US" altLang="zh-TW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量化心理健康狀態</a:t>
            </a:r>
            <a:endParaRPr lang="en-US" altLang="zh-TW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作答完畢有建議與提醒</a:t>
            </a:r>
            <a:endParaRPr lang="en-US" altLang="zh-TW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>
              <a:lnSpc>
                <a:spcPts val="2750"/>
              </a:lnSpc>
            </a:pPr>
            <a:endParaRPr lang="en-US" altLang="zh-TW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>
              <a:lnSpc>
                <a:spcPts val="2750"/>
              </a:lnSpc>
            </a:pPr>
            <a:r>
              <a:rPr lang="zh-TW" alt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歷史檢視：</a:t>
            </a:r>
            <a:endParaRPr lang="en-US" altLang="zh-TW" b="1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可觀看量表歷史紀錄，追蹤自我軌跡</a:t>
            </a:r>
            <a:endParaRPr lang="en-US" altLang="zh-TW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>
              <a:lnSpc>
                <a:spcPts val="2750"/>
              </a:lnSpc>
            </a:pPr>
            <a:endParaRPr lang="zh-TW" altLang="en-US" b="1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DA531C4-7F6F-D025-F0D6-D3A18D9BEAA4}"/>
              </a:ext>
            </a:extLst>
          </p:cNvPr>
          <p:cNvSpPr/>
          <p:nvPr/>
        </p:nvSpPr>
        <p:spPr>
          <a:xfrm>
            <a:off x="10967561" y="1788081"/>
            <a:ext cx="493395" cy="493395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CB4FCE-CD55-EAEB-C8C9-1D1002A16491}"/>
              </a:ext>
            </a:extLst>
          </p:cNvPr>
          <p:cNvSpPr/>
          <p:nvPr/>
        </p:nvSpPr>
        <p:spPr>
          <a:xfrm>
            <a:off x="11049774" y="1829217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55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CD0093-0C03-75E9-F549-C088D75EF51F}"/>
              </a:ext>
            </a:extLst>
          </p:cNvPr>
          <p:cNvSpPr/>
          <p:nvPr/>
        </p:nvSpPr>
        <p:spPr>
          <a:xfrm>
            <a:off x="12830175" y="7610475"/>
            <a:ext cx="1800225" cy="619125"/>
          </a:xfrm>
          <a:prstGeom prst="rect">
            <a:avLst/>
          </a:prstGeom>
          <a:solidFill>
            <a:srgbClr val="EFECE6"/>
          </a:solidFill>
          <a:ln>
            <a:solidFill>
              <a:srgbClr val="EFE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AD6B52-BC5C-FB05-73A8-1654B7761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143" y="3708582"/>
            <a:ext cx="3306251" cy="402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B58F932-0233-2A5F-DEEF-E7C18F7F4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603" y="2740325"/>
            <a:ext cx="3229357" cy="500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49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865" y="789265"/>
            <a:ext cx="3359229" cy="419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架構概覽</a:t>
            </a:r>
            <a:endParaRPr lang="en-US" sz="26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1638F4E-2602-E08A-9AB4-11CADC7CE10B}"/>
              </a:ext>
            </a:extLst>
          </p:cNvPr>
          <p:cNvSpPr/>
          <p:nvPr/>
        </p:nvSpPr>
        <p:spPr>
          <a:xfrm>
            <a:off x="12830175" y="7610475"/>
            <a:ext cx="1800225" cy="619125"/>
          </a:xfrm>
          <a:prstGeom prst="rect">
            <a:avLst/>
          </a:prstGeom>
          <a:solidFill>
            <a:srgbClr val="EFECE6"/>
          </a:solidFill>
          <a:ln>
            <a:solidFill>
              <a:srgbClr val="EFE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BD47C768-3ADA-D5B6-E583-E507EF15CD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21990" y="260703"/>
            <a:ext cx="6865110" cy="77081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1"/>
          <p:cNvSpPr/>
          <p:nvPr/>
        </p:nvSpPr>
        <p:spPr>
          <a:xfrm>
            <a:off x="5226565" y="496412"/>
            <a:ext cx="3129677" cy="39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zh-TW" altLang="en-US" sz="4400" b="1" dirty="0">
                <a:solidFill>
                  <a:srgbClr val="282824"/>
                </a:solidFill>
                <a:latin typeface="Lato Bold" pitchFamily="34" charset="0"/>
                <a:cs typeface="Lato Bold" pitchFamily="34" charset="-120"/>
              </a:rPr>
              <a:t>資料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5924550" y="924997"/>
            <a:ext cx="8267700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74AB69-9C84-A0F7-B482-FB0FC8F80E0C}"/>
              </a:ext>
            </a:extLst>
          </p:cNvPr>
          <p:cNvSpPr/>
          <p:nvPr/>
        </p:nvSpPr>
        <p:spPr>
          <a:xfrm>
            <a:off x="12830175" y="7610475"/>
            <a:ext cx="1800225" cy="619125"/>
          </a:xfrm>
          <a:prstGeom prst="rect">
            <a:avLst/>
          </a:prstGeom>
          <a:solidFill>
            <a:srgbClr val="EFECE6"/>
          </a:solidFill>
          <a:ln>
            <a:solidFill>
              <a:srgbClr val="EFE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圖片 15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5F4250C7-4C8B-2CDA-A628-00EEA7CCAD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" t="6974" r="-150" b="24902"/>
          <a:stretch>
            <a:fillRect/>
          </a:stretch>
        </p:blipFill>
        <p:spPr>
          <a:xfrm>
            <a:off x="528637" y="1665248"/>
            <a:ext cx="13573125" cy="5405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9041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zh-TW" altLang="en-US" sz="4450" b="1" dirty="0">
                <a:solidFill>
                  <a:srgbClr val="282824"/>
                </a:solidFill>
                <a:latin typeface="Lato Bold" pitchFamily="34" charset="0"/>
                <a:cs typeface="Lato Bold" pitchFamily="34" charset="-120"/>
              </a:rPr>
              <a:t>特色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761058"/>
            <a:ext cx="12874585" cy="420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altLang="zh-TW" sz="175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RAG </a:t>
            </a:r>
            <a:r>
              <a:rPr lang="zh-TW" altLang="en-US" sz="1750" b="1" dirty="0">
                <a:latin typeface="Lato" panose="020F0502020204030203" pitchFamily="34" charset="0"/>
                <a:cs typeface="Lato" panose="020F0502020204030203" pitchFamily="34" charset="0"/>
              </a:rPr>
              <a:t>校園資源</a:t>
            </a:r>
          </a:p>
          <a:p>
            <a:pPr marL="742950" lvl="1" indent="-285750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TW" altLang="en-US" sz="1750" dirty="0">
                <a:latin typeface="Lato" panose="020F0502020204030203" pitchFamily="34" charset="0"/>
                <a:cs typeface="Lato" panose="020F0502020204030203" pitchFamily="34" charset="0"/>
              </a:rPr>
              <a:t>方法：將中原大學校園資源放入向量資料庫，透過向量檢索將結果提供給 </a:t>
            </a:r>
            <a:r>
              <a:rPr lang="en-US" altLang="zh-TW" sz="175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</a:t>
            </a:r>
            <a:r>
              <a:rPr lang="en-US" altLang="zh-TW" sz="175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zh-TW" altLang="en-US" sz="1750" dirty="0">
                <a:latin typeface="Lato" panose="020F0502020204030203" pitchFamily="34" charset="0"/>
                <a:cs typeface="Lato" panose="020F0502020204030203" pitchFamily="34" charset="0"/>
              </a:rPr>
              <a:t>使用</a:t>
            </a:r>
          </a:p>
          <a:p>
            <a:pPr marL="742950" lvl="1" indent="-285750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TW" altLang="en-US" sz="1750" dirty="0">
                <a:latin typeface="Lato" panose="020F0502020204030203" pitchFamily="34" charset="0"/>
                <a:cs typeface="Lato" panose="020F0502020204030203" pitchFamily="34" charset="0"/>
              </a:rPr>
              <a:t>內容</a:t>
            </a:r>
            <a:r>
              <a:rPr lang="en-US" altLang="zh-TW" sz="175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lang="zh-TW" altLang="en-US" sz="1750" dirty="0">
                <a:latin typeface="Lato" panose="020F0502020204030203" pitchFamily="34" charset="0"/>
                <a:cs typeface="Lato" panose="020F0502020204030203" pitchFamily="34" charset="0"/>
              </a:rPr>
              <a:t>藝文資源、學習資源、心理輔導資源、職涯發展、體育設施、餐飲資源、教官室、社團列  表、工讀獎助、租屋資訊、意見反映、校園動物陪伴、霸凌、性平申訴管道</a:t>
            </a:r>
          </a:p>
          <a:p>
            <a:pPr marL="742950" lvl="1" indent="-285750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TW" altLang="en-US" sz="1750" dirty="0">
                <a:latin typeface="Lato" panose="020F0502020204030203" pitchFamily="34" charset="0"/>
                <a:cs typeface="Lato" panose="020F0502020204030203" pitchFamily="34" charset="0"/>
              </a:rPr>
              <a:t>解決問題：提供中原學生專屬支援，降低尋求協助的門檻</a:t>
            </a:r>
            <a:endParaRPr lang="en-US" altLang="zh-TW" sz="1750" dirty="0">
              <a:latin typeface="Lato" panose="020F0502020204030203" pitchFamily="34" charset="0"/>
              <a:cs typeface="Lato" panose="020F0502020204030203" pitchFamily="34" charset="0"/>
            </a:endParaRPr>
          </a:p>
          <a:p>
            <a:pPr lvl="1">
              <a:lnSpc>
                <a:spcPts val="2850"/>
              </a:lnSpc>
              <a:buSzPct val="100000"/>
            </a:pPr>
            <a:endParaRPr lang="zh-TW" altLang="en-US" sz="1750" dirty="0">
              <a:latin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zh-TW" altLang="en-US" sz="1750" b="1" dirty="0">
                <a:latin typeface="Lato" panose="020F0502020204030203" pitchFamily="34" charset="0"/>
                <a:cs typeface="Lato" panose="020F0502020204030203" pitchFamily="34" charset="0"/>
              </a:rPr>
              <a:t>心情回顧（情緒儀表板 </a:t>
            </a:r>
            <a:r>
              <a:rPr lang="en-US" altLang="zh-TW" sz="175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+ </a:t>
            </a:r>
            <a:r>
              <a:rPr lang="zh-TW" altLang="en-US" sz="1750" b="1" dirty="0">
                <a:latin typeface="Lato" panose="020F0502020204030203" pitchFamily="34" charset="0"/>
                <a:cs typeface="Lato" panose="020F0502020204030203" pitchFamily="34" charset="0"/>
              </a:rPr>
              <a:t>每日摘要）</a:t>
            </a:r>
          </a:p>
          <a:p>
            <a:pPr marL="742950" lvl="1" indent="-285750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TW" altLang="en-US" sz="1750" dirty="0">
                <a:latin typeface="Lato" panose="020F0502020204030203" pitchFamily="34" charset="0"/>
                <a:cs typeface="Lato" panose="020F0502020204030203" pitchFamily="34" charset="0"/>
              </a:rPr>
              <a:t>方法：將使用者對話進行情緒分類（憤怒、悲傷、焦慮</a:t>
            </a:r>
            <a:r>
              <a:rPr lang="en-US" altLang="zh-TW" sz="175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…</a:t>
            </a:r>
            <a:r>
              <a:rPr lang="zh-TW" altLang="en-US" sz="1750" dirty="0">
                <a:latin typeface="Lato" panose="020F0502020204030203" pitchFamily="34" charset="0"/>
                <a:cs typeface="Lato" panose="020F0502020204030203" pitchFamily="34" charset="0"/>
              </a:rPr>
              <a:t>），並顯示各種情緒在過去對話中出現的比例；同時提供 過去七天每日摘要，幫助使用者快速回顧心情與思緒。</a:t>
            </a:r>
          </a:p>
          <a:p>
            <a:pPr marL="742950" lvl="1" indent="-285750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TW" altLang="en-US" sz="1750" dirty="0">
                <a:latin typeface="Lato" panose="020F0502020204030203" pitchFamily="34" charset="0"/>
                <a:cs typeface="Lato" panose="020F0502020204030203" pitchFamily="34" charset="0"/>
              </a:rPr>
              <a:t>解決問題：提醒使用者回顧與反思，以銘記建議，並適時給自己關心或採取行動。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F2B251-8732-E846-F2D3-A8D24C854503}"/>
              </a:ext>
            </a:extLst>
          </p:cNvPr>
          <p:cNvSpPr/>
          <p:nvPr/>
        </p:nvSpPr>
        <p:spPr>
          <a:xfrm>
            <a:off x="12830175" y="7610475"/>
            <a:ext cx="1800225" cy="619125"/>
          </a:xfrm>
          <a:prstGeom prst="rect">
            <a:avLst/>
          </a:prstGeom>
          <a:solidFill>
            <a:srgbClr val="EFECE6"/>
          </a:solidFill>
          <a:ln>
            <a:solidFill>
              <a:srgbClr val="EFE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10288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zh-TW" altLang="en-US" sz="4450" b="1" dirty="0">
                <a:solidFill>
                  <a:srgbClr val="282824"/>
                </a:solidFill>
                <a:latin typeface="Lato Bold" pitchFamily="34" charset="0"/>
                <a:cs typeface="Lato Bold" pitchFamily="34" charset="-120"/>
              </a:rPr>
              <a:t>工具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33005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22676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llama-3.3-70b-versatile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2758083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TW" alt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對話分析、摘要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133005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22676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Line Messaging API 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307348" y="2758083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TW" alt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接收</a:t>
            </a:r>
            <a:r>
              <a:rPr lang="en-US" altLang="zh-TW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&amp;</a:t>
            </a:r>
            <a:r>
              <a:rPr lang="zh-TW" alt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回傳訊息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937516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40721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MongoDB </a:t>
            </a:r>
            <a:r>
              <a:rPr lang="zh-TW" alt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資料庫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44253" y="4562594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TW" alt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儲存對話、情緒、主題、策略、意圖、量表結果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3937516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40721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Render.com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307348" y="4562594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TW" alt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部署平台，確保</a:t>
            </a:r>
            <a:r>
              <a:rPr lang="en-US" altLang="zh-TW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Line bot 24</a:t>
            </a:r>
            <a:r>
              <a:rPr lang="zh-TW" alt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小時持續運行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9C2BCFF-A0D7-19BA-C6A7-F209BCCADA4D}"/>
              </a:ext>
            </a:extLst>
          </p:cNvPr>
          <p:cNvSpPr/>
          <p:nvPr/>
        </p:nvSpPr>
        <p:spPr>
          <a:xfrm>
            <a:off x="12830175" y="7610475"/>
            <a:ext cx="1800225" cy="619125"/>
          </a:xfrm>
          <a:prstGeom prst="rect">
            <a:avLst/>
          </a:prstGeom>
          <a:solidFill>
            <a:srgbClr val="EFECE6"/>
          </a:solidFill>
          <a:ln>
            <a:solidFill>
              <a:srgbClr val="EFE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ED71F35-8595-7C46-C949-CC5E39028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686901"/>
            <a:ext cx="566976" cy="566976"/>
          </a:xfrm>
          <a:prstGeom prst="rect">
            <a:avLst/>
          </a:prstGeom>
        </p:spPr>
      </p:pic>
      <p:sp>
        <p:nvSpPr>
          <p:cNvPr id="24" name="Text 6">
            <a:extLst>
              <a:ext uri="{FF2B5EF4-FFF2-40B4-BE49-F238E27FC236}">
                <a16:creationId xmlns:a16="http://schemas.microsoft.com/office/drawing/2014/main" id="{50FA6B1D-5D36-E29C-F722-59A41D3B8429}"/>
              </a:ext>
            </a:extLst>
          </p:cNvPr>
          <p:cNvSpPr/>
          <p:nvPr/>
        </p:nvSpPr>
        <p:spPr>
          <a:xfrm>
            <a:off x="1644253" y="58215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FAISS </a:t>
            </a:r>
            <a:r>
              <a:rPr lang="zh-TW" alt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向量資料庫</a:t>
            </a:r>
            <a:endParaRPr lang="en-US" sz="22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BC9A605A-A555-A479-462A-757B34C60EED}"/>
              </a:ext>
            </a:extLst>
          </p:cNvPr>
          <p:cNvSpPr/>
          <p:nvPr/>
        </p:nvSpPr>
        <p:spPr>
          <a:xfrm>
            <a:off x="1644253" y="6311979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zh-TW" altLang="en-US" dirty="0"/>
              <a:t>提供中原資源向量檢索</a:t>
            </a:r>
            <a:endParaRPr lang="en-US" sz="1750" dirty="0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9A1591B3-17AF-E0B8-4B9D-50098D737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3" y="5686901"/>
            <a:ext cx="566976" cy="566976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4EE5E3FC-1264-EE42-A3D8-3DC374504F41}"/>
              </a:ext>
            </a:extLst>
          </p:cNvPr>
          <p:cNvSpPr/>
          <p:nvPr/>
        </p:nvSpPr>
        <p:spPr>
          <a:xfrm>
            <a:off x="8307347" y="58215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altLang="zh-TW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Hugging Face Space</a:t>
            </a:r>
            <a:endParaRPr lang="en-US" sz="22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62B506C1-F660-A1C9-CF17-63CBC162853D}"/>
              </a:ext>
            </a:extLst>
          </p:cNvPr>
          <p:cNvSpPr/>
          <p:nvPr/>
        </p:nvSpPr>
        <p:spPr>
          <a:xfrm>
            <a:off x="8307347" y="6311979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TW" alt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架設 </a:t>
            </a:r>
            <a:r>
              <a:rPr lang="en-US" altLang="zh-TW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7"/>
              </a:rPr>
              <a:t>e5-large-embedding API</a:t>
            </a:r>
            <a:r>
              <a:rPr lang="zh-TW" alt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，將文字轉成向量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11068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zh-TW" alt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強化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410897"/>
            <a:ext cx="633172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3300"/>
              </a:lnSpc>
              <a:buFont typeface="Arial" panose="020B0604020202020204" pitchFamily="34" charset="0"/>
              <a:buChar char="•"/>
            </a:pPr>
            <a:r>
              <a:rPr lang="zh-TW" altLang="en-US" sz="2650" dirty="0"/>
              <a:t>情緒分類尚未完善，預計再一至二周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1133951" y="3063002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2410897"/>
            <a:ext cx="30480" cy="1899404"/>
          </a:xfrm>
          <a:prstGeom prst="rect">
            <a:avLst/>
          </a:prstGeom>
          <a:solidFill>
            <a:srgbClr val="28282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3F87D9-0435-A3EE-AFA2-AA73D621868F}"/>
              </a:ext>
            </a:extLst>
          </p:cNvPr>
          <p:cNvSpPr/>
          <p:nvPr/>
        </p:nvSpPr>
        <p:spPr>
          <a:xfrm>
            <a:off x="12830175" y="7610475"/>
            <a:ext cx="1800225" cy="619125"/>
          </a:xfrm>
          <a:prstGeom prst="rect">
            <a:avLst/>
          </a:prstGeom>
          <a:solidFill>
            <a:srgbClr val="EFECE6"/>
          </a:solidFill>
          <a:ln>
            <a:solidFill>
              <a:srgbClr val="EFE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1"/>
          <p:cNvSpPr/>
          <p:nvPr/>
        </p:nvSpPr>
        <p:spPr>
          <a:xfrm>
            <a:off x="7223046" y="21869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謝謝聆聽！</a:t>
            </a:r>
            <a:endParaRPr lang="en-US" sz="445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BD7A58-AECE-D71D-FA41-06A81FBE551A}"/>
              </a:ext>
            </a:extLst>
          </p:cNvPr>
          <p:cNvSpPr/>
          <p:nvPr/>
        </p:nvSpPr>
        <p:spPr>
          <a:xfrm>
            <a:off x="12830175" y="7610475"/>
            <a:ext cx="1800225" cy="619125"/>
          </a:xfrm>
          <a:prstGeom prst="rect">
            <a:avLst/>
          </a:prstGeom>
          <a:solidFill>
            <a:srgbClr val="EFECE6"/>
          </a:solidFill>
          <a:ln>
            <a:solidFill>
              <a:srgbClr val="EFE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Lato"/>
        <a:ea typeface="Lato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1984</TotalTime>
  <Words>1072</Words>
  <Application>Microsoft Office PowerPoint</Application>
  <PresentationFormat>自訂</PresentationFormat>
  <Paragraphs>175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Lato</vt:lpstr>
      <vt:lpstr>Arial</vt:lpstr>
      <vt:lpstr>Wingdings</vt:lpstr>
      <vt:lpstr>Lato Bold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 jo Aurora</cp:lastModifiedBy>
  <cp:revision>12</cp:revision>
  <dcterms:created xsi:type="dcterms:W3CDTF">2025-08-31T15:04:24Z</dcterms:created>
  <dcterms:modified xsi:type="dcterms:W3CDTF">2025-09-04T13:41:20Z</dcterms:modified>
</cp:coreProperties>
</file>